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ce64da89dc4540" /><Relationship Type="http://schemas.openxmlformats.org/officeDocument/2006/relationships/extended-properties" Target="/docProps/app.xml" Id="R8c76923491594d88" /><Relationship Type="http://schemas.openxmlformats.org/officeDocument/2006/relationships/officeDocument" Target="/ppt/presentation.xml" Id="Ra7ad4126ae8745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eb304fdec84c82"/>
  </p:sldMasterIdLst>
  <p:notesMasterIdLst>
    <p:notesMasterId xmlns:r="http://schemas.openxmlformats.org/officeDocument/2006/relationships" r:id="R37cededdbc734417"/>
  </p:notesMasterIdLst>
  <p:sldIdLst>
    <p:sldId xmlns:r="http://schemas.openxmlformats.org/officeDocument/2006/relationships" id="256" r:id="R9c7ea62729964ccd"/>
    <p:sldId xmlns:r="http://schemas.openxmlformats.org/officeDocument/2006/relationships" id="257" r:id="R120f2987e8434864"/>
    <p:sldId xmlns:r="http://schemas.openxmlformats.org/officeDocument/2006/relationships" id="258" r:id="Rd57cd061a9e8477f"/>
    <p:sldId xmlns:r="http://schemas.openxmlformats.org/officeDocument/2006/relationships" id="259" r:id="R6e2893ae29b24132"/>
    <p:sldId xmlns:r="http://schemas.openxmlformats.org/officeDocument/2006/relationships" id="260" r:id="R6486d508d6914d9e"/>
    <p:sldId xmlns:r="http://schemas.openxmlformats.org/officeDocument/2006/relationships" id="261" r:id="Rf733f61349e04019"/>
    <p:sldId xmlns:r="http://schemas.openxmlformats.org/officeDocument/2006/relationships" id="262" r:id="Rd1560ccd790f4958"/>
    <p:sldId xmlns:r="http://schemas.openxmlformats.org/officeDocument/2006/relationships" id="263" r:id="Rff4ace8c0d354aa5"/>
    <p:sldId xmlns:r="http://schemas.openxmlformats.org/officeDocument/2006/relationships" id="264" r:id="R55595309fef445fd"/>
    <p:sldId xmlns:r="http://schemas.openxmlformats.org/officeDocument/2006/relationships" id="265" r:id="R49d8d9c667fe42c2"/>
    <p:sldId xmlns:r="http://schemas.openxmlformats.org/officeDocument/2006/relationships" id="266" r:id="Rcc477f6b1f624b3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243542d6554d37" /><Relationship Type="http://schemas.openxmlformats.org/officeDocument/2006/relationships/slideMaster" Target="/ppt/slideMasters/slideMaster1.xml" Id="R7deb304fdec84c82" /><Relationship Type="http://schemas.openxmlformats.org/officeDocument/2006/relationships/notesMaster" Target="/ppt/notesMasters/notesMaster1.xml" Id="R37cededdbc734417" /><Relationship Type="http://schemas.openxmlformats.org/officeDocument/2006/relationships/presProps" Target="/ppt/presProps.xml" Id="R4c70600cf9104424" /><Relationship Type="http://schemas.openxmlformats.org/officeDocument/2006/relationships/tableStyles" Target="/ppt/tableStyles.xml" Id="R55779b9a546a444b" /><Relationship Type="http://schemas.openxmlformats.org/officeDocument/2006/relationships/slide" Target="/ppt/slides/slide1.xml" Id="R9c7ea62729964ccd" /><Relationship Type="http://schemas.openxmlformats.org/officeDocument/2006/relationships/slide" Target="/ppt/slides/slide2.xml" Id="R120f2987e8434864" /><Relationship Type="http://schemas.openxmlformats.org/officeDocument/2006/relationships/slide" Target="/ppt/slides/slide3.xml" Id="Rd57cd061a9e8477f" /><Relationship Type="http://schemas.openxmlformats.org/officeDocument/2006/relationships/slide" Target="/ppt/slides/slide4.xml" Id="R6e2893ae29b24132" /><Relationship Type="http://schemas.openxmlformats.org/officeDocument/2006/relationships/slide" Target="/ppt/slides/slide5.xml" Id="R6486d508d6914d9e" /><Relationship Type="http://schemas.openxmlformats.org/officeDocument/2006/relationships/slide" Target="/ppt/slides/slide6.xml" Id="Rf733f61349e04019" /><Relationship Type="http://schemas.openxmlformats.org/officeDocument/2006/relationships/slide" Target="/ppt/slides/slide7.xml" Id="Rd1560ccd790f4958" /><Relationship Type="http://schemas.openxmlformats.org/officeDocument/2006/relationships/slide" Target="/ppt/slides/slide8.xml" Id="Rff4ace8c0d354aa5" /><Relationship Type="http://schemas.openxmlformats.org/officeDocument/2006/relationships/slide" Target="/ppt/slides/slide9.xml" Id="R55595309fef445fd" /><Relationship Type="http://schemas.openxmlformats.org/officeDocument/2006/relationships/slide" Target="/ppt/slides/slide10.xml" Id="R49d8d9c667fe42c2" /><Relationship Type="http://schemas.openxmlformats.org/officeDocument/2006/relationships/slide" Target="/ppt/slides/slide11.xml" Id="Rcc477f6b1f624b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cc4aa068bf4a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d957a26b8b4121" /><Relationship Type="http://schemas.openxmlformats.org/officeDocument/2006/relationships/notesMaster" Target="/ppt/notesMasters/notesMaster1.xml" Id="Re9d8225652bc4d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a40cc6bfa74838" /><Relationship Type="http://schemas.openxmlformats.org/officeDocument/2006/relationships/notesMaster" Target="/ppt/notesMasters/notesMaster1.xml" Id="Rbe798dfd351540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6513bb44434af8" /><Relationship Type="http://schemas.openxmlformats.org/officeDocument/2006/relationships/notesMaster" Target="/ppt/notesMasters/notesMaster1.xml" Id="Re2f0ce7a7a2e43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610740681e4bd1" /><Relationship Type="http://schemas.openxmlformats.org/officeDocument/2006/relationships/notesMaster" Target="/ppt/notesMasters/notesMaster1.xml" Id="R3d35113948744e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d6a3476858467a" /><Relationship Type="http://schemas.openxmlformats.org/officeDocument/2006/relationships/notesMaster" Target="/ppt/notesMasters/notesMaster1.xml" Id="Ra4f7ef0a7d984b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87f8857e504ab0" /><Relationship Type="http://schemas.openxmlformats.org/officeDocument/2006/relationships/notesMaster" Target="/ppt/notesMasters/notesMaster1.xml" Id="R9947b3f5c3894b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b2bdc6b529488c" /><Relationship Type="http://schemas.openxmlformats.org/officeDocument/2006/relationships/notesMaster" Target="/ppt/notesMasters/notesMaster1.xml" Id="Re07fd01bdbdf4d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b2ee4fc4524fa3" /><Relationship Type="http://schemas.openxmlformats.org/officeDocument/2006/relationships/notesMaster" Target="/ppt/notesMasters/notesMaster1.xml" Id="R3cc1f325a56b41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b2b537cb8a42ad" /><Relationship Type="http://schemas.openxmlformats.org/officeDocument/2006/relationships/notesMaster" Target="/ppt/notesMasters/notesMaster1.xml" Id="Rb53f797d06b541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105b0c6d4f49ae" /><Relationship Type="http://schemas.openxmlformats.org/officeDocument/2006/relationships/notesMaster" Target="/ppt/notesMasters/notesMaster1.xml" Id="R41ae1043833b4f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36bd183717448d" /><Relationship Type="http://schemas.openxmlformats.org/officeDocument/2006/relationships/notesMaster" Target="/ppt/notesMasters/notesMaster1.xml" Id="Rd53985578a4d43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el objetivo de la defensa: no explicar código línea a línea, sino enseñar producto, utilidad y criterio.</a:t>
            </a:r>
          </a:p>
          <a:p xmlns:a="http://schemas.openxmlformats.org/drawingml/2006/main">
            <a:r>
              <a:t>Frase de entrada: PRISMA Copy Lab convierte un proceso manual de copy comercial en un flujo trazable de briefing, generación, validación y revisión humana.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Problema exacto: crear y validar piezas comerciales con demasiada dependencia de revisión manual y poca evidencia posterior.</a:t>
            </a:r>
          </a:p>
          <a:p xmlns:a="http://schemas.openxmlformats.org/drawingml/2006/main">
            <a:r>
              <a:t>Conectar con la guía: explicar para quién importa y por qué merece existir.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Responder a dos preguntas probables: quién lo usa y qué acción facilita.</a:t>
            </a:r>
          </a:p>
          <a:p xmlns:a="http://schemas.openxmlformats.org/drawingml/2006/main">
            <a:r>
              <a:t>El valor no es solo generar texto: es generar, validar e interpretar con un historial.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Durante la demo, no leer esta slide: usarla como mapa mental.</a:t>
            </a:r>
          </a:p>
          <a:p xmlns:a="http://schemas.openxmlformats.org/drawingml/2006/main">
            <a:r>
              <a:t>Orden recomendado: crear o abrir briefing, generar mensaje, validar, entrar en histórico/detalle, explicar veredicto.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los datos no salen de contactos reales ni de campañas reales: son datos de briefing y resultado dentro del entorno académico.</a:t>
            </a:r>
          </a:p>
          <a:p xmlns:a="http://schemas.openxmlformats.org/drawingml/2006/main">
            <a:r>
              <a:t>Punto fuerte: cada resultado queda asociado a metadatos, no es una salida suelta del chat.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slide responde a dominio técnico sin entrar en código línea a línea.</a:t>
            </a:r>
          </a:p>
          <a:p xmlns:a="http://schemas.openxmlformats.org/drawingml/2006/main">
            <a:r>
              <a:t>Patrones aplicados: MVC, DAO, Service Layer y Adapter. Beneficio: mantenibilidad, test y menor acoplamiento.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Aquí conviene recalcar fiabilidad útil, no infalibilidad absoluta.</a:t>
            </a:r>
          </a:p>
          <a:p xmlns:a="http://schemas.openxmlformats.org/drawingml/2006/main">
            <a:r>
              <a:t>El LLM no decide solo el resultado global: devuelve estructura y comentarios; el servicio calcula el veredicto con reglas documentadas.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la salida con vocabulario de usuario: seguir, ajustar o rehacer.</a:t>
            </a:r>
          </a:p>
          <a:p xmlns:a="http://schemas.openxmlformats.org/drawingml/2006/main">
            <a:r>
              <a:t>Si preguntan por fiabilidad: se combina validación estructurada, parser estricto, reglas deterministas y revisión humana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slide ayuda a contestar “qué limitación debe conocer un usuario”.</a:t>
            </a:r>
          </a:p>
          <a:p xmlns:a="http://schemas.openxmlformats.org/drawingml/2006/main">
            <a:r>
              <a:t>Evitar sonar defensivo: los límites muestran alcance responsable.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Responder a la pregunta de “un mes más” con prioridades realistas.</a:t>
            </a:r>
          </a:p>
          <a:p xmlns:a="http://schemas.openxmlformats.org/drawingml/2006/main">
            <a:r>
              <a:t>No prometer grandes integraciones primero: la siguiente mejora más valiosa es medir y comparar calidad del proceso.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esta slide para el turno de preguntas o como cierre si no hay preguntas.</a:t>
            </a:r>
          </a:p>
          <a:p xmlns:a="http://schemas.openxmlformats.org/drawingml/2006/main">
            <a:r>
              <a:t>Mensaje final: el proyecto demuestra producto funcional, criterio de datos y límites responsables.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5ae8a6cc4948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ec126c476e4c39" /><Relationship Type="http://schemas.openxmlformats.org/officeDocument/2006/relationships/slideLayout" Target="/ppt/slideLayouts/slideLayout1.xml" Id="Rfa48566e3a3749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48566e3a3749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00157d4a04571" /><Relationship Type="http://schemas.openxmlformats.org/officeDocument/2006/relationships/notesSlide" Target="/ppt/notesSlides/notesSlide1.xml" Id="Rf92179f55ddb4e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2344aaf7e4ebf" /><Relationship Type="http://schemas.openxmlformats.org/officeDocument/2006/relationships/notesSlide" Target="/ppt/notesSlides/notesSlide2.xml" Id="Ra571886864354e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d6dc736c54745" /><Relationship Type="http://schemas.openxmlformats.org/officeDocument/2006/relationships/notesSlide" Target="/ppt/notesSlides/notesSlide3.xml" Id="Rf99b19f0a2bc48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618893ae14047" /><Relationship Type="http://schemas.openxmlformats.org/officeDocument/2006/relationships/notesSlide" Target="/ppt/notesSlides/notesSlide4.xml" Id="Rb610f5be3c6243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8e8c8175b4607" /><Relationship Type="http://schemas.openxmlformats.org/officeDocument/2006/relationships/notesSlide" Target="/ppt/notesSlides/notesSlide5.xml" Id="R44248c1e30de49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f963310534eac" /><Relationship Type="http://schemas.openxmlformats.org/officeDocument/2006/relationships/notesSlide" Target="/ppt/notesSlides/notesSlide6.xml" Id="R80d4c85d61f640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06a39c3a3449b" /><Relationship Type="http://schemas.openxmlformats.org/officeDocument/2006/relationships/notesSlide" Target="/ppt/notesSlides/notesSlide7.xml" Id="R057bfe471b3a43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f7826b95344a7" /><Relationship Type="http://schemas.openxmlformats.org/officeDocument/2006/relationships/notesSlide" Target="/ppt/notesSlides/notesSlide8.xml" Id="Rf167e74082a746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005f94dc54e56" /><Relationship Type="http://schemas.openxmlformats.org/officeDocument/2006/relationships/notesSlide" Target="/ppt/notesSlides/notesSlide9.xml" Id="R7f5b7a8a1ebf43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4baa8666f4f02" /><Relationship Type="http://schemas.openxmlformats.org/officeDocument/2006/relationships/notesSlide" Target="/ppt/notesSlides/notesSlide10.xml" Id="R4419a8d0fde346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62815000a44a1" /><Relationship Type="http://schemas.openxmlformats.org/officeDocument/2006/relationships/notesSlide" Target="/ppt/notesSlides/notesSlide11.xml" Id="Rb6db20317afb4c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ABD1FE-8D72-401C-AEBC-BA6694F0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B"/>
          </a:solidFill>
          <a:ln xmlns:a="http://schemas.openxmlformats.org/drawingml/2006/main" w="9525">
            <a:solidFill>
              <a:srgbClr val="B423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135C1-E26D-4821-819E-D9452FE2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B1C1C"/>
                </a:solidFill>
              </a:defRPr>
            </a:pPr>
            <a:r>
              <a:rPr sz="4350" b="1">
                <a:solidFill>
                  <a:srgbClr val="1B1C1C"/>
                </a:solidFill>
              </a:rPr>
              <a:t>PRISMA Copy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F2F83-B8C2-4398-9299-96DFE1AE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3161B"/>
                </a:solidFill>
              </a:defRPr>
            </a:pPr>
            <a:r>
              <a:rPr sz="1950" b="1">
                <a:solidFill>
                  <a:srgbClr val="73161B"/>
                </a:solidFill>
              </a:rPr>
              <a:t>Defensa final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E4E46-E307-4774-BBE9-D8EE0E41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647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5552"/>
                </a:solidFill>
              </a:defRPr>
            </a:pPr>
            <a:r>
              <a:rPr sz="1800" b="0">
                <a:solidFill>
                  <a:srgbClr val="5B5552"/>
                </a:solidFill>
              </a:rPr>
              <a:t>Producto funcional para generar, validar y trazar comunicaciones comerciales de Universidad Prisma.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AAAC8-9B21-4CC8-ABC3-654DB9CD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857250"/>
            <a:ext cx="3105150" cy="419100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07C62-3FCD-4567-BFDE-45AA92FE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181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1C1C"/>
                </a:solidFill>
              </a:defRPr>
            </a:pPr>
            <a:r>
              <a:rPr sz="1575" b="1">
                <a:solidFill>
                  <a:srgbClr val="1B1C1C"/>
                </a:solidFill>
              </a:rPr>
              <a:t>La defensa debe demostrar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82576-881C-493C-9420-C250A551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90700"/>
            <a:ext cx="2343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4F0"/>
          </a:solidFill>
          <a:ln xmlns:a="http://schemas.openxmlformats.org/drawingml/2006/main" w="9525">
            <a:solidFill>
              <a:srgbClr val="E8F4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A9355-1F6A-4AC9-B73E-19EB3E4A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57375"/>
            <a:ext cx="2076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6B57"/>
                </a:solidFill>
              </a:defRPr>
            </a:pPr>
            <a:r>
              <a:rPr sz="975" b="1">
                <a:solidFill>
                  <a:srgbClr val="0B6B57"/>
                </a:solidFill>
              </a:rPr>
              <a:t>Producto funcionando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0F3D8-F973-4459-A686-E2937573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343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4"/>
          </a:solidFill>
          <a:ln xmlns:a="http://schemas.openxmlformats.org/drawingml/2006/main" w="9525">
            <a:solidFill>
              <a:srgbClr val="FFF3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53A38-7C1B-4D67-92A8-796DB818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38425"/>
            <a:ext cx="2076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4F00"/>
                </a:solidFill>
              </a:defRPr>
            </a:pPr>
            <a:r>
              <a:rPr sz="975" b="1">
                <a:solidFill>
                  <a:srgbClr val="7C4F00"/>
                </a:solidFill>
              </a:rPr>
              <a:t>Valor defendible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670FA-80D1-42F1-8459-B80FF691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52800"/>
            <a:ext cx="2343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EAF0F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1AF08-1273-4815-BC48-AA85F202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19475"/>
            <a:ext cx="2076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D8C"/>
                </a:solidFill>
              </a:defRPr>
            </a:pPr>
            <a:r>
              <a:rPr sz="975" b="1">
                <a:solidFill>
                  <a:srgbClr val="2F5D8C"/>
                </a:solidFill>
              </a:rPr>
              <a:t>Dominio de datos, límites y resultados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6974E-99FB-4BCF-BE88-578090B3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9580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552"/>
                </a:solidFill>
              </a:defRPr>
            </a:pPr>
            <a:r>
              <a:rPr sz="1125" b="0">
                <a:solidFill>
                  <a:srgbClr val="5B5552"/>
                </a:solidFill>
              </a:rPr>
              <a:t>Salida: deck editable + guion en notas del orador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41790-8103-45A9-8C9F-6C408A0A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470"/>
                </a:solidFill>
              </a:defRPr>
            </a:pPr>
            <a:r>
              <a:rPr sz="825" b="0">
                <a:solidFill>
                  <a:srgbClr val="7A7470"/>
                </a:solidFill>
              </a:rPr>
              <a:t>PRISMA Copy Lab - defensa final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FC7006-A71E-4744-993A-98FD7BF6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7470"/>
                </a:solidFill>
              </a:defRPr>
            </a:pPr>
            <a:r>
              <a:rPr sz="975" b="1">
                <a:solidFill>
                  <a:srgbClr val="7A747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85416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33A6B7-9B02-4DF3-87D0-F8581DE5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9E8"/>
          </a:solidFill>
          <a:ln xmlns:a="http://schemas.openxmlformats.org/drawingml/2006/main" w="9525">
            <a:solidFill>
              <a:srgbClr val="F8E9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EA4E1-FCBC-4422-AF2E-85EE4ADD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912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161B"/>
                </a:solidFill>
              </a:defRPr>
            </a:pPr>
            <a:r>
              <a:rPr sz="975" b="1">
                <a:solidFill>
                  <a:srgbClr val="73161B"/>
                </a:solidFill>
              </a:rPr>
              <a:t>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0D09E-C3D0-4EA6-9DF2-28247DC5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620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1C1C"/>
                </a:solidFill>
              </a:defRPr>
            </a:pPr>
            <a:r>
              <a:rPr sz="2850" b="1">
                <a:solidFill>
                  <a:srgbClr val="1B1C1C"/>
                </a:solidFill>
              </a:rPr>
              <a:t>El proceso manual no escala ni deja trazabilidad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8455C-0013-4BF9-8BAE-742FA8BB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5552"/>
                </a:solidFill>
              </a:defRPr>
            </a:pPr>
            <a:r>
              <a:rPr sz="1500" b="0">
                <a:solidFill>
                  <a:srgbClr val="5B5552"/>
                </a:solidFill>
              </a:rPr>
              <a:t>El equipo crea, revisa e itera mensajes para WhatsApp y email con criterios que no siempre quedan registrados.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B167A-F0F1-4D83-8B16-9FE8F389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470"/>
                </a:solidFill>
              </a:defRPr>
            </a:pPr>
            <a:r>
              <a:rPr sz="825" b="0">
                <a:solidFill>
                  <a:srgbClr val="7A7470"/>
                </a:solidFill>
              </a:rPr>
              <a:t>PRISMA Copy Lab - defensa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46C32-E9E7-475C-BE60-B650CEE1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7470"/>
                </a:solidFill>
              </a:defRPr>
            </a:pPr>
            <a:r>
              <a:rPr sz="975" b="1">
                <a:solidFill>
                  <a:srgbClr val="7A7470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9823B-B271-4CEC-9379-1EBF994A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30670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8AF9B-A0B6-46A9-918F-423811B9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4232B"/>
                </a:solidFill>
              </a:defRPr>
            </a:pPr>
            <a:r>
              <a:rPr sz="1950" b="1">
                <a:solidFill>
                  <a:srgbClr val="B4232B"/>
                </a:solidFill>
              </a:rPr>
              <a:t>Tiempo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7E415-6AE6-4FAA-ACE3-F5102E4D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5552"/>
                </a:solidFill>
              </a:defRPr>
            </a:pPr>
            <a:r>
              <a:rPr sz="1500" b="0">
                <a:solidFill>
                  <a:srgbClr val="5B5552"/>
                </a:solidFill>
              </a:rPr>
              <a:t>Demasiado esfuerzo en adaptar textos por canal.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F343D7-6E73-4D8A-9FAA-C13F79E2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57500"/>
            <a:ext cx="30670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A00C1-2FF5-413A-B72F-FD4B37B2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5D8C"/>
                </a:solidFill>
              </a:defRPr>
            </a:pPr>
            <a:r>
              <a:rPr sz="1950" b="1">
                <a:solidFill>
                  <a:srgbClr val="2F5D8C"/>
                </a:solidFill>
              </a:rPr>
              <a:t>Consistencia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67738-7ECA-465B-A070-63B5CCD9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5552"/>
                </a:solidFill>
              </a:defRPr>
            </a:pPr>
            <a:r>
              <a:rPr sz="1500" b="0">
                <a:solidFill>
                  <a:srgbClr val="5B5552"/>
                </a:solidFill>
              </a:rPr>
              <a:t>Riesgo de tono desigual o mensajes poco alineados.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35F5DC-74C0-41A7-83F7-6DC27F7C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57500"/>
            <a:ext cx="30670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28ADB-1CC1-43F7-B5D5-75487F98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6B57"/>
                </a:solidFill>
              </a:defRPr>
            </a:pPr>
            <a:r>
              <a:rPr sz="1950" b="1">
                <a:solidFill>
                  <a:srgbClr val="0B6B57"/>
                </a:solidFill>
              </a:rPr>
              <a:t>Trazabilidad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ACBF1-82E9-4F5C-8142-DD09F28E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623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5552"/>
                </a:solidFill>
              </a:defRPr>
            </a:pPr>
            <a:r>
              <a:rPr sz="1500" b="0">
                <a:solidFill>
                  <a:srgbClr val="5B5552"/>
                </a:solidFill>
              </a:rPr>
              <a:t>No queda claro qué versión se aprobó, con qué criterio y por qué.</a:t>
            </a:r>
          </a:p>
        </p:txBody>
      </p:sp>
    </p:spTree>
    <p:extLst>
      <p:ext uri="{BB962C8B-B14F-4D97-AF65-F5344CB8AC3E}">
        <p14:creationId xmlns:p14="http://schemas.microsoft.com/office/powerpoint/2010/main" val="19061182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DF3FFF-CC32-4994-ABA1-201C4016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9E8"/>
          </a:solidFill>
          <a:ln xmlns:a="http://schemas.openxmlformats.org/drawingml/2006/main" w="9525">
            <a:solidFill>
              <a:srgbClr val="F8E9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DC46A-07CE-4F49-8793-8A382584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912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161B"/>
                </a:solidFill>
              </a:defRPr>
            </a:pPr>
            <a:r>
              <a:rPr sz="975" b="1">
                <a:solidFill>
                  <a:srgbClr val="73161B"/>
                </a:solidFill>
              </a:rPr>
              <a:t>USUARIO Y VALOR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D62F6-3D7B-4344-BD50-1FEFE980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620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1C1C"/>
                </a:solidFill>
              </a:defRPr>
            </a:pPr>
            <a:r>
              <a:rPr sz="2850" b="1">
                <a:solidFill>
                  <a:srgbClr val="1B1C1C"/>
                </a:solidFill>
              </a:rPr>
              <a:t>Ayuda al equipo de marketing a decidir si un mensaje puede avanzar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2FCAB-739E-483B-BBA5-B894E462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5552"/>
                </a:solidFill>
              </a:defRPr>
            </a:pPr>
            <a:r>
              <a:rPr sz="1500" b="0">
                <a:solidFill>
                  <a:srgbClr val="5B5552"/>
                </a:solidFill>
              </a:rPr>
              <a:t>No reemplaza al equipo: estructura el trabajo y deja una base verificable para revisión humana.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56401-1012-42DE-BCDD-7DF6D731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470"/>
                </a:solidFill>
              </a:defRPr>
            </a:pPr>
            <a:r>
              <a:rPr sz="825" b="0">
                <a:solidFill>
                  <a:srgbClr val="7A7470"/>
                </a:solidFill>
              </a:rPr>
              <a:t>PRISMA Copy Lab - defensa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BDCEA-C1E5-4191-A225-40574293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7470"/>
                </a:solidFill>
              </a:defRPr>
            </a:pPr>
            <a:r>
              <a:rPr sz="975" b="1">
                <a:solidFill>
                  <a:srgbClr val="7A7470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0B4C5-B256-4BBA-8FCD-5B88025C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4762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E9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75C77B-3D44-4F68-8D3E-828B418B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90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161B"/>
                </a:solidFill>
              </a:defRPr>
            </a:pPr>
            <a:r>
              <a:rPr sz="1500" b="1">
                <a:solidFill>
                  <a:srgbClr val="73161B"/>
                </a:solidFill>
              </a:rPr>
              <a:t>Usuario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4EA23-C693-45CD-BFB3-58E7256B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908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1C1C"/>
                </a:solidFill>
              </a:defRPr>
            </a:pPr>
            <a:r>
              <a:rPr sz="1575" b="0">
                <a:solidFill>
                  <a:srgbClr val="1B1C1C"/>
                </a:solidFill>
              </a:rPr>
              <a:t>Marketing y comunicación comercial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79D711-C2E9-45C0-AA06-8716CDF3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48050"/>
            <a:ext cx="4762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5B754-9935-4305-BBA4-1E978A39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19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D8C"/>
                </a:solidFill>
              </a:defRPr>
            </a:pPr>
            <a:r>
              <a:rPr sz="1500" b="1">
                <a:solidFill>
                  <a:srgbClr val="2F5D8C"/>
                </a:solidFill>
              </a:rPr>
              <a:t>Decisión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4A9CE-5000-4DC9-99B1-1F3EE4A6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195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1C1C"/>
                </a:solidFill>
              </a:defRPr>
            </a:pPr>
            <a:r>
              <a:rPr sz="1575" b="0">
                <a:solidFill>
                  <a:srgbClr val="1B1C1C"/>
                </a:solidFill>
              </a:rPr>
              <a:t>Usar, ajustar o rehacer una pieza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2E6BC-9FE2-4BDB-84D8-2C026557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4762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4F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19DAB9-50B2-4CC7-AD2A-B92504F8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6B57"/>
                </a:solidFill>
              </a:defRPr>
            </a:pPr>
            <a:r>
              <a:rPr sz="1500" b="1">
                <a:solidFill>
                  <a:srgbClr val="0B6B57"/>
                </a:solidFill>
              </a:rPr>
              <a:t>Beneficio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2F3F8-E16C-4450-8C9A-DC28C270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482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1C1C"/>
                </a:solidFill>
              </a:defRPr>
            </a:pPr>
            <a:r>
              <a:rPr sz="1575" b="0">
                <a:solidFill>
                  <a:srgbClr val="1B1C1C"/>
                </a:solidFill>
              </a:rPr>
              <a:t>Menos fricción, más consistencia y trazabilidad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F085B0-F533-46A6-B766-4039AE02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37719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2BF72-F145-4BD8-B82C-B4175B0E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86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B1C1C"/>
                </a:solidFill>
              </a:defRPr>
            </a:pPr>
            <a:r>
              <a:rPr sz="1800" b="1">
                <a:solidFill>
                  <a:srgbClr val="1B1C1C"/>
                </a:solidFill>
              </a:rPr>
              <a:t>Mejora frente al proceso actual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EB3296-2656-4F77-8EF1-6C09B078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766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552"/>
                </a:solidFill>
              </a:defRPr>
            </a:pPr>
            <a:r>
              <a:rPr sz="1425" b="0">
                <a:solidFill>
                  <a:srgbClr val="5B5552"/>
                </a:solidFill>
              </a:rPr>
              <a:t>• briefing estructurado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128F9-DB05-42D8-8BD0-871D6403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052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552"/>
                </a:solidFill>
              </a:defRPr>
            </a:pPr>
            <a:r>
              <a:rPr sz="1425" b="0">
                <a:solidFill>
                  <a:srgbClr val="5B5552"/>
                </a:solidFill>
              </a:rPr>
              <a:t>• generación con prompt trazable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C691D4-F5F6-466D-A438-946D767B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338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552"/>
                </a:solidFill>
              </a:defRPr>
            </a:pPr>
            <a:r>
              <a:rPr sz="1425" b="0">
                <a:solidFill>
                  <a:srgbClr val="5B5552"/>
                </a:solidFill>
              </a:rPr>
              <a:t>• validación en siete bloques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BB46D7-EBD8-4BDC-B41C-FF932CEF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624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552"/>
                </a:solidFill>
              </a:defRPr>
            </a:pPr>
            <a:r>
              <a:rPr sz="1425" b="0">
                <a:solidFill>
                  <a:srgbClr val="5B5552"/>
                </a:solidFill>
              </a:rPr>
              <a:t>• histórico consultable</a:t>
            </a:r>
          </a:p>
        </p:txBody>
      </p:sp>
    </p:spTree>
    <p:extLst>
      <p:ext uri="{BB962C8B-B14F-4D97-AF65-F5344CB8AC3E}">
        <p14:creationId xmlns:p14="http://schemas.microsoft.com/office/powerpoint/2010/main" val="19917476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67B1BF-72B6-4E8E-B28B-878229E7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9E8"/>
          </a:solidFill>
          <a:ln xmlns:a="http://schemas.openxmlformats.org/drawingml/2006/main" w="9525">
            <a:solidFill>
              <a:srgbClr val="F8E9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4697B-367A-44E8-814A-A40C1D9F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912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161B"/>
                </a:solidFill>
              </a:defRPr>
            </a:pPr>
            <a:r>
              <a:rPr sz="975" b="1">
                <a:solidFill>
                  <a:srgbClr val="73161B"/>
                </a:solidFill>
              </a:rPr>
              <a:t>DEMO FUNCIONAL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D3397-0A2E-4AC9-9BBA-9554FB4F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620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1C1C"/>
                </a:solidFill>
              </a:defRPr>
            </a:pPr>
            <a:r>
              <a:rPr sz="2850" b="1">
                <a:solidFill>
                  <a:srgbClr val="1B1C1C"/>
                </a:solidFill>
              </a:rPr>
              <a:t>Flujo que debe verse en directo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96495-4454-4956-A291-07C94C6C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5552"/>
                </a:solidFill>
              </a:defRPr>
            </a:pPr>
            <a:r>
              <a:rPr sz="1500" b="0">
                <a:solidFill>
                  <a:srgbClr val="5B5552"/>
                </a:solidFill>
              </a:rPr>
              <a:t>Entrada real o representativa, proceso visible y salida interpretable.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AFF51-CB82-45A1-9235-BE3C8B3D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470"/>
                </a:solidFill>
              </a:defRPr>
            </a:pPr>
            <a:r>
              <a:rPr sz="825" b="0">
                <a:solidFill>
                  <a:srgbClr val="7A7470"/>
                </a:solidFill>
              </a:rPr>
              <a:t>PRISMA Copy Lab - defensa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434CE-917D-4EA9-A8FA-6DD9353C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7470"/>
                </a:solidFill>
              </a:defRPr>
            </a:pPr>
            <a:r>
              <a:rPr sz="975" b="1">
                <a:solidFill>
                  <a:srgbClr val="7A7470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614E9-160D-4795-90E0-4B4D8D26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2238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51125-3A21-4606-9C44-9BD6C328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4232B"/>
                </a:solidFill>
              </a:defRPr>
            </a:pPr>
            <a:r>
              <a:rPr sz="2550" b="1">
                <a:solidFill>
                  <a:srgbClr val="B4232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38442-60FE-46A7-B700-B10DCE9B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194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1C1C"/>
                </a:solidFill>
              </a:defRPr>
            </a:pPr>
            <a:r>
              <a:rPr sz="1725" b="1">
                <a:solidFill>
                  <a:srgbClr val="1B1C1C"/>
                </a:solidFill>
              </a:rPr>
              <a:t>Briefing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B2FB7-906E-440B-994E-9629356E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552"/>
                </a:solidFill>
              </a:defRPr>
            </a:pPr>
            <a:r>
              <a:rPr sz="1350" b="0">
                <a:solidFill>
                  <a:srgbClr val="5B5552"/>
                </a:solidFill>
              </a:rPr>
              <a:t>campaña, programa, objetivo, público, canal, CTA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C1A75-AA57-4289-AD5D-571CF86B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14700"/>
            <a:ext cx="30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D3CD"/>
                </a:solidFill>
              </a:defRPr>
            </a:pPr>
            <a:r>
              <a:rPr sz="2550" b="1">
                <a:solidFill>
                  <a:srgbClr val="D9D3CD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1FBFC-6DCA-45F4-8D8A-1DE51631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533650"/>
            <a:ext cx="2238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2530C-1A18-4DB7-B62E-36F67FCD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743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4232B"/>
                </a:solidFill>
              </a:defRPr>
            </a:pPr>
            <a:r>
              <a:rPr sz="2550" b="1">
                <a:solidFill>
                  <a:srgbClr val="B4232B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10C89-5449-45C5-B45B-60618D97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8194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1C1C"/>
                </a:solidFill>
              </a:defRPr>
            </a:pPr>
            <a:r>
              <a:rPr sz="1725" b="1">
                <a:solidFill>
                  <a:srgbClr val="1B1C1C"/>
                </a:solidFill>
              </a:rPr>
              <a:t>Generación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9C39CD-4A5B-477D-956D-B10F414E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42900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552"/>
                </a:solidFill>
              </a:defRPr>
            </a:pPr>
            <a:r>
              <a:rPr sz="1350" b="0">
                <a:solidFill>
                  <a:srgbClr val="5B5552"/>
                </a:solidFill>
              </a:rPr>
              <a:t>mensaje WhatsApp o email con 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E2B1B6-959A-4D61-ADD1-D7C2C98F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314700"/>
            <a:ext cx="30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D3CD"/>
                </a:solidFill>
              </a:defRPr>
            </a:pPr>
            <a:r>
              <a:rPr sz="2550" b="1">
                <a:solidFill>
                  <a:srgbClr val="D9D3CD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F0A94C-A5FC-46C3-A1BF-9AD382A6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33650"/>
            <a:ext cx="2238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6F1A8B-BC02-4F15-B6D2-13341D31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4232B"/>
                </a:solidFill>
              </a:defRPr>
            </a:pPr>
            <a:r>
              <a:rPr sz="2550" b="1">
                <a:solidFill>
                  <a:srgbClr val="B4232B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CFA3D-B1EE-4E5E-815C-4BCA67CE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194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1C1C"/>
                </a:solidFill>
              </a:defRPr>
            </a:pPr>
            <a:r>
              <a:rPr sz="1725" b="1">
                <a:solidFill>
                  <a:srgbClr val="1B1C1C"/>
                </a:solidFill>
              </a:rPr>
              <a:t>Validación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7ED795-59C4-4E31-A2B4-A3AC550C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552"/>
                </a:solidFill>
              </a:defRPr>
            </a:pPr>
            <a:r>
              <a:rPr sz="1350" b="0">
                <a:solidFill>
                  <a:srgbClr val="5B5552"/>
                </a:solidFill>
              </a:rPr>
              <a:t>siete bloques + veredicto global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7A1696-86F5-4A58-9E72-687169F1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14700"/>
            <a:ext cx="30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D3CD"/>
                </a:solidFill>
              </a:defRPr>
            </a:pPr>
            <a:r>
              <a:rPr sz="2550" b="1">
                <a:solidFill>
                  <a:srgbClr val="D9D3CD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D5A375-62B6-4234-A0B9-507587EC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533650"/>
            <a:ext cx="2238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99E86B-E34C-472A-8CEC-D0BA0889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743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4232B"/>
                </a:solidFill>
              </a:defRPr>
            </a:pPr>
            <a:r>
              <a:rPr sz="2550" b="1">
                <a:solidFill>
                  <a:srgbClr val="B4232B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F019E7-EA79-4F9C-90B5-72E261EB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8194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1C1C"/>
                </a:solidFill>
              </a:defRPr>
            </a:pPr>
            <a:r>
              <a:rPr sz="1725" b="1">
                <a:solidFill>
                  <a:srgbClr val="1B1C1C"/>
                </a:solidFill>
              </a:rPr>
              <a:t>Histórico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448DE5-B1CB-4B01-BB2F-5E23A98A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42900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552"/>
                </a:solidFill>
              </a:defRPr>
            </a:pPr>
            <a:r>
              <a:rPr sz="1350" b="0">
                <a:solidFill>
                  <a:srgbClr val="5B5552"/>
                </a:solidFill>
              </a:rPr>
              <a:t>caso completo con metadatos y versiones</a:t>
            </a:r>
          </a:p>
        </p:txBody>
      </p:sp>
    </p:spTree>
    <p:extLst>
      <p:ext uri="{BB962C8B-B14F-4D97-AF65-F5344CB8AC3E}">
        <p14:creationId xmlns:p14="http://schemas.microsoft.com/office/powerpoint/2010/main" val="11030851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8FBFF6-B84E-43CC-92F1-2F84C12C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9E8"/>
          </a:solidFill>
          <a:ln xmlns:a="http://schemas.openxmlformats.org/drawingml/2006/main" w="9525">
            <a:solidFill>
              <a:srgbClr val="F8E9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FC944-EC4D-4BC6-B7E7-CFA04714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912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161B"/>
                </a:solidFill>
              </a:defRPr>
            </a:pPr>
            <a:r>
              <a:rPr sz="975" b="1">
                <a:solidFill>
                  <a:srgbClr val="73161B"/>
                </a:solidFill>
              </a:rPr>
              <a:t>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2D9F6-30C2-4DFB-BABA-3DB0FCA4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620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1C1C"/>
                </a:solidFill>
              </a:defRPr>
            </a:pPr>
            <a:r>
              <a:rPr sz="2850" b="1">
                <a:solidFill>
                  <a:srgbClr val="1B1C1C"/>
                </a:solidFill>
              </a:rPr>
              <a:t>Qué datos necesita y cómo se tratan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879F2-7EAB-48FE-A0D0-F5572DE4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5552"/>
                </a:solidFill>
              </a:defRPr>
            </a:pPr>
            <a:r>
              <a:rPr sz="1500" b="0">
                <a:solidFill>
                  <a:srgbClr val="5B5552"/>
                </a:solidFill>
              </a:rPr>
              <a:t>El producto trabaja con datos estructurados de briefing, versiones de mensaje, validaciones y scores.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B46F5-DBA2-4E3F-91D7-5AA93F3D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470"/>
                </a:solidFill>
              </a:defRPr>
            </a:pPr>
            <a:r>
              <a:rPr sz="825" b="0">
                <a:solidFill>
                  <a:srgbClr val="7A7470"/>
                </a:solidFill>
              </a:rPr>
              <a:t>PRISMA Copy Lab - defensa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0BBC3-D522-4662-AFE1-C84FE0A4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7470"/>
                </a:solidFill>
              </a:defRPr>
            </a:pPr>
            <a:r>
              <a:rPr sz="975" b="1">
                <a:solidFill>
                  <a:srgbClr val="7A7470"/>
                </a:solidFill>
              </a:rPr>
              <a:t>05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19150" y="2362200"/>
          <a:ext xmlns:a="http://schemas.openxmlformats.org/drawingml/2006/main" cx="1028700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29000"/>
                <a:gridCol w="3429000"/>
                <a:gridCol w="3429000"/>
              </a:tblGrid>
              <a:tr h="4953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Dato</a:t>
                      </a:r>
                    </a:p>
                  </a:txBody>
                  <a:tcPr marL="91440" marR="91440" marT="45720" marB="45720">
                    <a:solidFill>
                      <a:srgbClr val="7316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Origen</a:t>
                      </a:r>
                    </a:p>
                  </a:txBody>
                  <a:tcPr marL="91440" marR="91440" marT="45720" marB="45720">
                    <a:solidFill>
                      <a:srgbClr val="7316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Tratamiento</a:t>
                      </a:r>
                    </a:p>
                  </a:txBody>
                  <a:tcPr marL="91440" marR="91440" marT="45720" marB="45720">
                    <a:solidFill>
                      <a:srgbClr val="73161B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t>Briefing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Formulario del usuario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Validación de campos y normalización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t>Mensaje generado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LLM real o mock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Persistencia con prompt, modelo y versión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t>Validación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LLM evaluador + código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Parser estricto y matriz determinista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t>Histórico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SQLite vía Prisma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Relaciones entre brief, versiones y scores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5442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3527C6-4D98-4468-9D26-6D26DF2B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9E8"/>
          </a:solidFill>
          <a:ln xmlns:a="http://schemas.openxmlformats.org/drawingml/2006/main" w="9525">
            <a:solidFill>
              <a:srgbClr val="F8E9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3B60C-DBF5-4B36-96EB-36000BEA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912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161B"/>
                </a:solidFill>
              </a:defRPr>
            </a:pPr>
            <a:r>
              <a:rPr sz="975" b="1">
                <a:solidFill>
                  <a:srgbClr val="73161B"/>
                </a:solidFill>
              </a:rPr>
              <a:t>ARQUITECTURA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C2DF3-702F-49F2-8F94-290E6156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620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1C1C"/>
                </a:solidFill>
              </a:defRPr>
            </a:pPr>
            <a:r>
              <a:rPr sz="2850" b="1">
                <a:solidFill>
                  <a:srgbClr val="1B1C1C"/>
                </a:solidFill>
              </a:rPr>
              <a:t>Separación clara: interfaz, servicios, DAO y proveedores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1476F-E867-4997-8C64-1BCA9D38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5552"/>
                </a:solidFill>
              </a:defRPr>
            </a:pPr>
            <a:r>
              <a:rPr sz="1500" b="0">
                <a:solidFill>
                  <a:srgbClr val="5B5552"/>
                </a:solidFill>
              </a:rPr>
              <a:t>La estructura evita mezclar pantalla, reglas de negocio, persistencia e integración LLM.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90F80-766E-400B-910A-4E74D714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470"/>
                </a:solidFill>
              </a:defRPr>
            </a:pPr>
            <a:r>
              <a:rPr sz="825" b="0">
                <a:solidFill>
                  <a:srgbClr val="7A7470"/>
                </a:solidFill>
              </a:rPr>
              <a:t>PRISMA Copy Lab - defensa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E7CC9-61D1-4130-9E40-701457DF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7470"/>
                </a:solidFill>
              </a:defRPr>
            </a:pPr>
            <a:r>
              <a:rPr sz="975" b="1">
                <a:solidFill>
                  <a:srgbClr val="7A7470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7101A-9133-48E9-9EE8-C29B5532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43150"/>
            <a:ext cx="3429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84DA8-A393-4973-B192-29380DD0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6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3161B"/>
                </a:solidFill>
              </a:defRPr>
            </a:pPr>
            <a:r>
              <a:rPr sz="1350" b="1">
                <a:solidFill>
                  <a:srgbClr val="73161B"/>
                </a:solidFill>
              </a:rPr>
              <a:t>Vista / acciones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0E4DA-1CD6-431C-80B1-AE7F6C4F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552"/>
                </a:solidFill>
              </a:defRPr>
            </a:pPr>
            <a:r>
              <a:rPr sz="1350" b="0">
                <a:solidFill>
                  <a:srgbClr val="5B5552"/>
                </a:solidFill>
              </a:rPr>
              <a:t>Next.js App Router + Server 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56BDB-1C84-4805-9F1A-F02DEC6B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57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D3CD"/>
                </a:solidFill>
              </a:defRPr>
            </a:pPr>
            <a:r>
              <a:rPr sz="1950" b="1">
                <a:solidFill>
                  <a:srgbClr val="D9D3CD"/>
                </a:solidFill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7D4C1-327D-415E-85DD-E5ED0BC3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24200"/>
            <a:ext cx="3429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3C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33F9AD-0182-447F-AF44-D8A6765D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57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D8C"/>
                </a:solidFill>
              </a:defRPr>
            </a:pPr>
            <a:r>
              <a:rPr sz="1350" b="1">
                <a:solidFill>
                  <a:srgbClr val="2F5D8C"/>
                </a:solidFill>
              </a:rPr>
              <a:t>Servicios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8B97B-BEB8-4007-99FF-97608EF3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552"/>
                </a:solidFill>
              </a:defRPr>
            </a:pPr>
            <a:r>
              <a:rPr sz="1350" b="0">
                <a:solidFill>
                  <a:srgbClr val="5B5552"/>
                </a:solidFill>
              </a:rPr>
              <a:t>reglas de negocio y orquestación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018DD-22F1-4998-AA62-0325E1AD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385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D3CD"/>
                </a:solidFill>
              </a:defRPr>
            </a:pPr>
            <a:r>
              <a:rPr sz="1950" b="1">
                <a:solidFill>
                  <a:srgbClr val="D9D3CD"/>
                </a:solidFill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4C8BEF-6184-42FC-959F-844DE236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05250"/>
            <a:ext cx="3429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C438CE-2FD8-4F17-BC7E-412EB2D8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38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B57"/>
                </a:solidFill>
              </a:defRPr>
            </a:pPr>
            <a:r>
              <a:rPr sz="1350" b="1">
                <a:solidFill>
                  <a:srgbClr val="0B6B57"/>
                </a:solidFill>
              </a:rPr>
              <a:t>DAO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E70487-BDEB-4CD4-A09A-F8D543C2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3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552"/>
                </a:solidFill>
              </a:defRPr>
            </a:pPr>
            <a:r>
              <a:rPr sz="1350" b="0">
                <a:solidFill>
                  <a:srgbClr val="5B5552"/>
                </a:solidFill>
              </a:rPr>
              <a:t>persistencia aislada con Prisma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72AE09-FD3A-4A6C-AFC4-56300AD3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19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D3CD"/>
                </a:solidFill>
              </a:defRPr>
            </a:pPr>
            <a:r>
              <a:rPr sz="1950" b="1">
                <a:solidFill>
                  <a:srgbClr val="D9D3CD"/>
                </a:solidFill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6CDBA0-386A-44A8-AC16-7F921262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86300"/>
            <a:ext cx="3429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3C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5AA12C-A897-46D6-B647-6E0F7521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9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1C1C"/>
                </a:solidFill>
              </a:defRPr>
            </a:pPr>
            <a:r>
              <a:rPr sz="1350" b="1">
                <a:solidFill>
                  <a:srgbClr val="1B1C1C"/>
                </a:solidFill>
              </a:rPr>
              <a:t>Adapters LLM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D1ADD8-CDD3-4BA5-870F-AFBB3AB2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9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552"/>
                </a:solidFill>
              </a:defRPr>
            </a:pPr>
            <a:r>
              <a:rPr sz="1350" b="0">
                <a:solidFill>
                  <a:srgbClr val="5B5552"/>
                </a:solidFill>
              </a:rPr>
              <a:t>cliente real y mock bajo contrato común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628285-A1E1-454F-A175-C1F787A5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76500"/>
            <a:ext cx="2952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4F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0A38CB-8941-4D41-811A-F0A60FDF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81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6B57"/>
                </a:solidFill>
              </a:defRPr>
            </a:pPr>
            <a:r>
              <a:rPr sz="1875" b="1">
                <a:solidFill>
                  <a:srgbClr val="0B6B57"/>
                </a:solidFill>
              </a:rPr>
              <a:t>Defensa técnica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6F2A7B-5095-4A3A-A43E-1D55F039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95650"/>
            <a:ext cx="219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1C1C"/>
                </a:solidFill>
              </a:defRPr>
            </a:pPr>
            <a:r>
              <a:rPr sz="1425" b="0">
                <a:solidFill>
                  <a:srgbClr val="1B1C1C"/>
                </a:solidFill>
              </a:rPr>
              <a:t>MVC para separar responsabilidades. DAO para aislar acceso a datos. Adapter para alternar LLM real/mock sin tocar la lógica de negocio.</a:t>
            </a:r>
          </a:p>
        </p:txBody>
      </p:sp>
    </p:spTree>
    <p:extLst>
      <p:ext uri="{BB962C8B-B14F-4D97-AF65-F5344CB8AC3E}">
        <p14:creationId xmlns:p14="http://schemas.microsoft.com/office/powerpoint/2010/main" val="6185442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7BFEA5-15D9-4CA0-989C-E5F9E0B3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9E8"/>
          </a:solidFill>
          <a:ln xmlns:a="http://schemas.openxmlformats.org/drawingml/2006/main" w="9525">
            <a:solidFill>
              <a:srgbClr val="F8E9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44FB8-6F49-4DA6-8F2B-11D15CE9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912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161B"/>
                </a:solidFill>
              </a:defRPr>
            </a:pPr>
            <a:r>
              <a:rPr sz="975" b="1">
                <a:solidFill>
                  <a:srgbClr val="73161B"/>
                </a:solidFill>
              </a:rPr>
              <a:t>VALIDADOR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105BC-705A-4D0A-A8B6-85435CD7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620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1C1C"/>
                </a:solidFill>
              </a:defRPr>
            </a:pPr>
            <a:r>
              <a:rPr sz="2850" b="1">
                <a:solidFill>
                  <a:srgbClr val="1B1C1C"/>
                </a:solidFill>
              </a:rPr>
              <a:t>El valor diferencial: siete criterios y veredicto calculado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E11DE-F60A-4FD1-921C-BA6262D3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5552"/>
                </a:solidFill>
              </a:defRPr>
            </a:pPr>
            <a:r>
              <a:rPr sz="1500" b="0">
                <a:solidFill>
                  <a:srgbClr val="5B5552"/>
                </a:solidFill>
              </a:rPr>
              <a:t>El modelo comenta cada bloque; el código calcula el veredicto global para reducir subjetividad.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D4108-C3E0-408A-9E98-D86B7341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470"/>
                </a:solidFill>
              </a:defRPr>
            </a:pPr>
            <a:r>
              <a:rPr sz="825" b="0">
                <a:solidFill>
                  <a:srgbClr val="7A7470"/>
                </a:solidFill>
              </a:rPr>
              <a:t>PRISMA Copy Lab - defensa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7F506-B574-47EB-BD72-CB1AA784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7470"/>
                </a:solidFill>
              </a:defRPr>
            </a:pPr>
            <a:r>
              <a:rPr sz="975" b="1">
                <a:solidFill>
                  <a:srgbClr val="7A7470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B9967-824B-4BDB-8132-18E081EC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4191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538A4-C93D-4A29-9BD7-12D964F8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717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1C1C"/>
                </a:solidFill>
              </a:defRPr>
            </a:pPr>
            <a:r>
              <a:rPr sz="1350" b="0">
                <a:solidFill>
                  <a:srgbClr val="1B1C1C"/>
                </a:solidFill>
              </a:rPr>
              <a:t>Alineación estratégica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8BCA1-3016-4FBE-BE43-A37CD538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47900"/>
            <a:ext cx="4191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71E28-95E4-4BE5-A3A9-117CE899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717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1C1C"/>
                </a:solidFill>
              </a:defRPr>
            </a:pPr>
            <a:r>
              <a:rPr sz="1350" b="0">
                <a:solidFill>
                  <a:srgbClr val="1B1C1C"/>
                </a:solidFill>
              </a:rPr>
              <a:t>Claridad y estructura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518AC-AB30-48DF-9F01-682A9A84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191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09BBAC-1AE7-4B5A-A08B-3F8EAD94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384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1C1C"/>
                </a:solidFill>
              </a:defRPr>
            </a:pPr>
            <a:r>
              <a:rPr sz="1350" b="0">
                <a:solidFill>
                  <a:srgbClr val="1B1C1C"/>
                </a:solidFill>
              </a:rPr>
              <a:t>Tono y marca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D223FA-85BB-4595-BAB8-3E4208E3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14650"/>
            <a:ext cx="4191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16EE7B-5A18-49FC-8F54-0781BF5C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384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1C1C"/>
                </a:solidFill>
              </a:defRPr>
            </a:pPr>
            <a:r>
              <a:rPr sz="1350" b="0">
                <a:solidFill>
                  <a:srgbClr val="1B1C1C"/>
                </a:solidFill>
              </a:rPr>
              <a:t>Calidad argumental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B9803-B4DD-41A6-81AD-91C01029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4191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6FF277-B663-4DC4-AB95-3D214358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52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1C1C"/>
                </a:solidFill>
              </a:defRPr>
            </a:pPr>
            <a:r>
              <a:rPr sz="1350" b="0">
                <a:solidFill>
                  <a:srgbClr val="1B1C1C"/>
                </a:solidFill>
              </a:rPr>
              <a:t>Adaptación al canal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8BE63-4665-431C-BDA5-DC8CEAC3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81400"/>
            <a:ext cx="4191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3D4"/>
          </a:solidFill>
          <a:ln xmlns:a="http://schemas.openxmlformats.org/drawingml/2006/main" w="9525">
            <a:solidFill>
              <a:srgbClr val="D9D3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CAFA69-CC46-4BC4-A4B7-50AFD270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052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4F00"/>
                </a:solidFill>
              </a:defRPr>
            </a:pPr>
            <a:r>
              <a:rPr sz="1350" b="1">
                <a:solidFill>
                  <a:srgbClr val="7C4F00"/>
                </a:solidFill>
              </a:rPr>
              <a:t>Precisión y fiabilidad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A800F0-B463-45CE-90E3-BC8376BE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4191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510D3A-29A6-4485-8D33-BB12E97D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719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1C1C"/>
                </a:solidFill>
              </a:defRPr>
            </a:pPr>
            <a:r>
              <a:rPr sz="1350" b="0">
                <a:solidFill>
                  <a:srgbClr val="1B1C1C"/>
                </a:solidFill>
              </a:rPr>
              <a:t>Calidad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B649C7-0975-4F5B-8313-01F75EB2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19650"/>
            <a:ext cx="4095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73161B"/>
          </a:solidFill>
          <a:ln xmlns:a="http://schemas.openxmlformats.org/drawingml/2006/main" w="9525">
            <a:solidFill>
              <a:srgbClr val="73161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46FE9A-1241-473B-B027-0533417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101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Matriz: crítico = no aprobada; 2+ mejorables = aprobada con ajustes; resto = aprobada</a:t>
            </a:r>
          </a:p>
        </p:txBody>
      </p:sp>
    </p:spTree>
    <p:extLst>
      <p:ext uri="{BB962C8B-B14F-4D97-AF65-F5344CB8AC3E}">
        <p14:creationId xmlns:p14="http://schemas.microsoft.com/office/powerpoint/2010/main" val="6728613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D426E5-889B-461D-B826-BEFFE6A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9E8"/>
          </a:solidFill>
          <a:ln xmlns:a="http://schemas.openxmlformats.org/drawingml/2006/main" w="9525">
            <a:solidFill>
              <a:srgbClr val="F8E9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22E11-7362-4972-8F10-A9588022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912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161B"/>
                </a:solidFill>
              </a:defRPr>
            </a:pPr>
            <a:r>
              <a:rPr sz="975" b="1">
                <a:solidFill>
                  <a:srgbClr val="73161B"/>
                </a:solidFill>
              </a:rPr>
              <a:t>RESULTADOS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C87D1-601B-4DC2-AB22-40431BA8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620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1C1C"/>
                </a:solidFill>
              </a:defRPr>
            </a:pPr>
            <a:r>
              <a:rPr sz="2850" b="1">
                <a:solidFill>
                  <a:srgbClr val="1B1C1C"/>
                </a:solidFill>
              </a:rPr>
              <a:t>Qué recibe el usuario y cómo debe interpretarlo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7B4EF-BC10-4A80-A3D3-DC2872F0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5552"/>
                </a:solidFill>
              </a:defRPr>
            </a:pPr>
            <a:r>
              <a:rPr sz="1500" b="0">
                <a:solidFill>
                  <a:srgbClr val="5B5552"/>
                </a:solidFill>
              </a:rPr>
              <a:t>La salida es accionable: mensaje generado, evaluación por bloque, veredicto y recomendaciones.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EF641-1EF2-4368-A166-A300B456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470"/>
                </a:solidFill>
              </a:defRPr>
            </a:pPr>
            <a:r>
              <a:rPr sz="825" b="0">
                <a:solidFill>
                  <a:srgbClr val="7A7470"/>
                </a:solidFill>
              </a:rPr>
              <a:t>PRISMA Copy Lab - defensa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781B1-03C7-4479-894A-C03A3C57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7470"/>
                </a:solidFill>
              </a:defRPr>
            </a:pPr>
            <a:r>
              <a:rPr sz="975" b="1">
                <a:solidFill>
                  <a:srgbClr val="7A7470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C5E3D-BC03-4219-9034-8295BBBC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27813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8F4F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C30A26-10E4-4A2D-9A63-44A67BAC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67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6B57"/>
                </a:solidFill>
              </a:defRPr>
            </a:pPr>
            <a:r>
              <a:rPr sz="1950" b="1">
                <a:solidFill>
                  <a:srgbClr val="0B6B57"/>
                </a:solidFill>
              </a:rPr>
              <a:t>aprobada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29FB6-E8E7-4D10-A502-A1DC70B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235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1C1C"/>
                </a:solidFill>
              </a:defRPr>
            </a:pPr>
            <a:r>
              <a:rPr sz="1425" b="0">
                <a:solidFill>
                  <a:srgbClr val="1B1C1C"/>
                </a:solidFill>
              </a:rPr>
              <a:t>Puede avanzar sin cambios relevantes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FE10EC-81AA-49F8-AF30-249999E9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81300"/>
            <a:ext cx="27813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3D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141EA-99CB-4A5D-94BB-B5F01CA7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67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C4F00"/>
                </a:solidFill>
              </a:defRPr>
            </a:pPr>
            <a:r>
              <a:rPr sz="1950" b="1">
                <a:solidFill>
                  <a:srgbClr val="7C4F00"/>
                </a:solidFill>
              </a:rPr>
              <a:t>aprobada con ajustes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50AA98-AFAC-460D-BB47-7FBD108F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6235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1C1C"/>
                </a:solidFill>
              </a:defRPr>
            </a:pPr>
            <a:r>
              <a:rPr sz="1425" b="0">
                <a:solidFill>
                  <a:srgbClr val="1B1C1C"/>
                </a:solidFill>
              </a:rPr>
              <a:t>La base sirve, pero conviene corregir puntos menores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69D93-D445-45D2-BD4A-193AA73B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81300"/>
            <a:ext cx="27813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E9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05874-3182-42B4-B0B3-AEA45163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67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3161B"/>
                </a:solidFill>
              </a:defRPr>
            </a:pPr>
            <a:r>
              <a:rPr sz="1950" b="1">
                <a:solidFill>
                  <a:srgbClr val="73161B"/>
                </a:solidFill>
              </a:rPr>
              <a:t>no aprobada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A89B4-D51A-4C36-AD85-D9469E43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6235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1C1C"/>
                </a:solidFill>
              </a:defRPr>
            </a:pPr>
            <a:r>
              <a:rPr sz="1425" b="0">
                <a:solidFill>
                  <a:srgbClr val="1B1C1C"/>
                </a:solidFill>
              </a:rPr>
              <a:t>Debe rehacerse total o parcialmente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EE557-0767-41AB-AF43-3E1A3564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149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1C1C"/>
                </a:solidFill>
              </a:defRPr>
            </a:pPr>
            <a:r>
              <a:rPr sz="1650" b="1">
                <a:solidFill>
                  <a:srgbClr val="1B1C1C"/>
                </a:solidFill>
              </a:rPr>
              <a:t>Interpretación defendible: no es una “nota” opaca; es una decisión de revisión con evidencias por criterio.</a:t>
            </a:r>
          </a:p>
        </p:txBody>
      </p:sp>
    </p:spTree>
    <p:extLst>
      <p:ext uri="{BB962C8B-B14F-4D97-AF65-F5344CB8AC3E}">
        <p14:creationId xmlns:p14="http://schemas.microsoft.com/office/powerpoint/2010/main" val="7288241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04531C-8B13-473C-BD2F-A1AEE126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9E8"/>
          </a:solidFill>
          <a:ln xmlns:a="http://schemas.openxmlformats.org/drawingml/2006/main" w="9525">
            <a:solidFill>
              <a:srgbClr val="F8E9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ED964-AFCE-4828-96C0-1D234FFF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912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161B"/>
                </a:solidFill>
              </a:defRPr>
            </a:pPr>
            <a:r>
              <a:rPr sz="975" b="1">
                <a:solidFill>
                  <a:srgbClr val="73161B"/>
                </a:solidFill>
              </a:rPr>
              <a:t>LÍMITES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2AC89-0084-4280-A5B4-892FCD84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620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1C1C"/>
                </a:solidFill>
              </a:defRPr>
            </a:pPr>
            <a:r>
              <a:rPr sz="2850" b="1">
                <a:solidFill>
                  <a:srgbClr val="1B1C1C"/>
                </a:solidFill>
              </a:rPr>
              <a:t>Qué no resuelve todavía y por qué está acotado así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6FEFE-D044-4CF2-A701-31F2AEBD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5552"/>
                </a:solidFill>
              </a:defRPr>
            </a:pPr>
            <a:r>
              <a:rPr sz="1500" b="0">
                <a:solidFill>
                  <a:srgbClr val="5B5552"/>
                </a:solidFill>
              </a:rPr>
              <a:t>La guía pide demostrar criterio también en las limitaciones: alcance explícito antes que promesas infladas.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0B491-B32F-41C7-B787-D7DF97D0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470"/>
                </a:solidFill>
              </a:defRPr>
            </a:pPr>
            <a:r>
              <a:rPr sz="825" b="0">
                <a:solidFill>
                  <a:srgbClr val="7A7470"/>
                </a:solidFill>
              </a:rPr>
              <a:t>PRISMA Copy Lab - defensa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964B8-41EC-4739-84D7-FA894E06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7470"/>
                </a:solidFill>
              </a:defRPr>
            </a:pPr>
            <a:r>
              <a:rPr sz="975" b="1">
                <a:solidFill>
                  <a:srgbClr val="7A7470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A3448-9DBB-494E-A5EF-2C2212AF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4000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B497B-F0ED-48CD-9227-784DE7C1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527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3161B"/>
                </a:solidFill>
              </a:defRPr>
            </a:pPr>
            <a:r>
              <a:rPr sz="1725" b="1">
                <a:solidFill>
                  <a:srgbClr val="73161B"/>
                </a:solidFill>
              </a:rPr>
              <a:t>No es CRM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7BCE4-271C-4B92-BE18-5FD2C026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552"/>
                </a:solidFill>
              </a:defRPr>
            </a:pPr>
            <a:r>
              <a:rPr sz="1275" b="0">
                <a:solidFill>
                  <a:srgbClr val="5B5552"/>
                </a:solidFill>
              </a:rPr>
              <a:t>No gestiona contactos ni campañas reales.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8416A-F991-40A8-91F5-2FC2A421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81250"/>
            <a:ext cx="4000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E8262-935B-436D-AAFC-022E559C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5527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3161B"/>
                </a:solidFill>
              </a:defRPr>
            </a:pPr>
            <a:r>
              <a:rPr sz="1725" b="1">
                <a:solidFill>
                  <a:srgbClr val="73161B"/>
                </a:solidFill>
              </a:rPr>
              <a:t>No sustituye revisión humana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29B1C-3041-4417-B381-0F2E766B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575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552"/>
                </a:solidFill>
              </a:defRPr>
            </a:pPr>
            <a:r>
              <a:rPr sz="1275" b="0">
                <a:solidFill>
                  <a:srgbClr val="5B5552"/>
                </a:solidFill>
              </a:rPr>
              <a:t>Asiste al equipo y organiza criterios.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DEBEE8-F388-4BC9-9991-55F9157A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4000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6DD8CC-652C-4741-8C54-9324A771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338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3161B"/>
                </a:solidFill>
              </a:defRPr>
            </a:pPr>
            <a:r>
              <a:rPr sz="1725" b="1">
                <a:solidFill>
                  <a:srgbClr val="73161B"/>
                </a:solidFill>
              </a:rPr>
              <a:t>No garantiza verdad externa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5965CF-7A53-4AE4-B987-C773D4A0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386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552"/>
                </a:solidFill>
              </a:defRPr>
            </a:pPr>
            <a:r>
              <a:rPr sz="1275" b="0">
                <a:solidFill>
                  <a:srgbClr val="5B5552"/>
                </a:solidFill>
              </a:rPr>
              <a:t>La precisión depende del briefing y fuentes verificadas.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F375D-AD71-47E4-9AB5-6EACFBE8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62350"/>
            <a:ext cx="4000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2337BC-934D-4D72-910F-A05034EB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7338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3161B"/>
                </a:solidFill>
              </a:defRPr>
            </a:pPr>
            <a:r>
              <a:rPr sz="1725" b="1">
                <a:solidFill>
                  <a:srgbClr val="73161B"/>
                </a:solidFill>
              </a:rPr>
              <a:t>No despliega producción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948359-8A48-41E3-A141-35E4E5E6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386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552"/>
                </a:solidFill>
              </a:defRPr>
            </a:pPr>
            <a:r>
              <a:rPr sz="1275" b="0">
                <a:solidFill>
                  <a:srgbClr val="5B5552"/>
                </a:solidFill>
              </a:rPr>
              <a:t>Es MVP académico local con SQLite.</a:t>
            </a:r>
          </a:p>
        </p:txBody>
      </p:sp>
    </p:spTree>
    <p:extLst>
      <p:ext uri="{BB962C8B-B14F-4D97-AF65-F5344CB8AC3E}">
        <p14:creationId xmlns:p14="http://schemas.microsoft.com/office/powerpoint/2010/main" val="12817020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16712B-20E6-4E60-B2D1-4FBC83F6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9E8"/>
          </a:solidFill>
          <a:ln xmlns:a="http://schemas.openxmlformats.org/drawingml/2006/main" w="9525">
            <a:solidFill>
              <a:srgbClr val="F8E9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F53E6-46F6-4AF3-A57A-C0599455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912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161B"/>
                </a:solidFill>
              </a:defRPr>
            </a:pPr>
            <a:r>
              <a:rPr sz="975" b="1">
                <a:solidFill>
                  <a:srgbClr val="73161B"/>
                </a:solidFill>
              </a:rPr>
              <a:t>SIGUIENTES PASOS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E0CFC-ABC5-4D34-B3A1-5D084D30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620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1C1C"/>
                </a:solidFill>
              </a:defRPr>
            </a:pPr>
            <a:r>
              <a:rPr sz="2850" b="1">
                <a:solidFill>
                  <a:srgbClr val="1B1C1C"/>
                </a:solidFill>
              </a:rPr>
              <a:t>Qué mejoraría con un mes más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38E57-425C-47C1-98AE-4AB5FE1E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5552"/>
                </a:solidFill>
              </a:defRPr>
            </a:pPr>
            <a:r>
              <a:rPr sz="1500" b="0">
                <a:solidFill>
                  <a:srgbClr val="5B5552"/>
                </a:solidFill>
              </a:rPr>
              <a:t>Prioridad: robustecer uso real, medición y gobierno sin romper el foco del MVP.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49638-7C26-4369-8F27-1E7FC708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470"/>
                </a:solidFill>
              </a:defRPr>
            </a:pPr>
            <a:r>
              <a:rPr sz="825" b="0">
                <a:solidFill>
                  <a:srgbClr val="7A7470"/>
                </a:solidFill>
              </a:rPr>
              <a:t>PRISMA Copy Lab - defensa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E7CDCD-CD21-48B7-9D5A-110D0C05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7470"/>
                </a:solidFill>
              </a:defRPr>
            </a:pPr>
            <a:r>
              <a:rPr sz="975" b="1">
                <a:solidFill>
                  <a:srgbClr val="7A7470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9F702-3E88-4FC8-8E58-42566E71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B4232B"/>
                </a:solidFill>
              </a:defRPr>
            </a:pPr>
            <a:r>
              <a:rPr sz="3900" b="1">
                <a:solidFill>
                  <a:srgbClr val="B4232B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69E1B-6074-41DE-B1EB-A62CEE73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1C1C"/>
                </a:solidFill>
              </a:defRPr>
            </a:pPr>
            <a:r>
              <a:rPr sz="1650" b="1">
                <a:solidFill>
                  <a:srgbClr val="1B1C1C"/>
                </a:solidFill>
              </a:rPr>
              <a:t>Filtros y búsqueda avanzados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7A871-34BE-42D0-845B-9F5AD6FA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552"/>
                </a:solidFill>
              </a:defRPr>
            </a:pPr>
            <a:r>
              <a:rPr sz="1350" b="0">
                <a:solidFill>
                  <a:srgbClr val="5B5552"/>
                </a:solidFill>
              </a:rPr>
              <a:t>en histórico por canal, fecha y veredicto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FF608-9476-4D9F-848F-31FE0DBB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F5D8C"/>
                </a:solidFill>
              </a:defRPr>
            </a:pPr>
            <a:r>
              <a:rPr sz="3900" b="1">
                <a:solidFill>
                  <a:srgbClr val="2F5D8C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4B310-AE57-4580-BC26-92D947A3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43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1C1C"/>
                </a:solidFill>
              </a:defRPr>
            </a:pPr>
            <a:r>
              <a:rPr sz="1650" b="1">
                <a:solidFill>
                  <a:srgbClr val="1B1C1C"/>
                </a:solidFill>
              </a:rPr>
              <a:t>Iteración guiada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668F1-2704-4B3C-B1BA-0D02F05D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385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552"/>
                </a:solidFill>
              </a:defRPr>
            </a:pPr>
            <a:r>
              <a:rPr sz="1350" b="0">
                <a:solidFill>
                  <a:srgbClr val="5B5552"/>
                </a:solidFill>
              </a:rPr>
              <a:t>comparar versiones y justificar mejoras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79BB40-1EB9-432C-95AC-37EA56DE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57450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6B57"/>
                </a:solidFill>
              </a:defRPr>
            </a:pPr>
            <a:r>
              <a:rPr sz="3900" b="1">
                <a:solidFill>
                  <a:srgbClr val="0B6B57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683C0-D6B4-447F-A332-987CFCAC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1C1C"/>
                </a:solidFill>
              </a:defRPr>
            </a:pPr>
            <a:r>
              <a:rPr sz="1650" b="1">
                <a:solidFill>
                  <a:srgbClr val="1B1C1C"/>
                </a:solidFill>
              </a:rPr>
              <a:t>Exportación y CRM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65C32-33EC-4E29-B443-17EC2ED8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385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552"/>
                </a:solidFill>
              </a:defRPr>
            </a:pPr>
            <a:r>
              <a:rPr sz="1350" b="0">
                <a:solidFill>
                  <a:srgbClr val="5B5552"/>
                </a:solidFill>
              </a:rPr>
              <a:t>flujo interno más completo para email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395EB9-C998-4DCD-8FB6-DFF8673B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57450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7C4F00"/>
                </a:solidFill>
              </a:defRPr>
            </a:pPr>
            <a:r>
              <a:rPr sz="3900" b="1">
                <a:solidFill>
                  <a:srgbClr val="7C4F00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D4C499-F7C1-4081-A395-54CF80AE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1C1C"/>
                </a:solidFill>
              </a:defRPr>
            </a:pPr>
            <a:r>
              <a:rPr sz="1650" b="1">
                <a:solidFill>
                  <a:srgbClr val="1B1C1C"/>
                </a:solidFill>
              </a:rPr>
              <a:t>Evaluación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0019DD-01E9-484F-85F6-C6C6ACD3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385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552"/>
                </a:solidFill>
              </a:defRPr>
            </a:pPr>
            <a:r>
              <a:rPr sz="1350" b="0">
                <a:solidFill>
                  <a:srgbClr val="5B5552"/>
                </a:solidFill>
              </a:rPr>
              <a:t>casos de prueba con revisores humanos</a:t>
            </a:r>
          </a:p>
        </p:txBody>
      </p:sp>
    </p:spTree>
    <p:extLst>
      <p:ext uri="{BB962C8B-B14F-4D97-AF65-F5344CB8AC3E}">
        <p14:creationId xmlns:p14="http://schemas.microsoft.com/office/powerpoint/2010/main" val="13119662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E48881-1031-442F-BF05-BF49D702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9E8"/>
          </a:solidFill>
          <a:ln xmlns:a="http://schemas.openxmlformats.org/drawingml/2006/main" w="9525">
            <a:solidFill>
              <a:srgbClr val="F8E9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E69B5-A7BC-418F-9D0D-2B219B32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912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161B"/>
                </a:solidFill>
              </a:defRPr>
            </a:pPr>
            <a:r>
              <a:rPr sz="975" b="1">
                <a:solidFill>
                  <a:srgbClr val="73161B"/>
                </a:solidFill>
              </a:rPr>
              <a:t>PREGUNTAS PROBABLES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09ABA-A139-4BCB-A594-6C64B41D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620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1C1C"/>
                </a:solidFill>
              </a:defRPr>
            </a:pPr>
            <a:r>
              <a:rPr sz="2850" b="1">
                <a:solidFill>
                  <a:srgbClr val="1B1C1C"/>
                </a:solidFill>
              </a:rPr>
              <a:t>Respuestas preparadas para defender con criterio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32AE5-EB1D-487B-9F22-7DD8655D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5552"/>
                </a:solidFill>
              </a:defRPr>
            </a:pPr>
            <a:r>
              <a:rPr sz="1500" b="0">
                <a:solidFill>
                  <a:srgbClr val="5B5552"/>
                </a:solidFill>
              </a:rPr>
              <a:t>Cerrar la defensa anticipando dudas sobre problema, datos, fiabilidad y evolución.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70B44-C587-4659-B4B5-2135081C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470"/>
                </a:solidFill>
              </a:defRPr>
            </a:pPr>
            <a:r>
              <a:rPr sz="825" b="0">
                <a:solidFill>
                  <a:srgbClr val="7A7470"/>
                </a:solidFill>
              </a:rPr>
              <a:t>PRISMA Copy Lab - defensa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85D63-4B07-40DD-9691-910BD98B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7470"/>
                </a:solidFill>
              </a:defRPr>
            </a:pPr>
            <a:r>
              <a:rPr sz="975" b="1">
                <a:solidFill>
                  <a:srgbClr val="7A7470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33C50-DEB7-4036-B1F8-8073006B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990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07EA0-4899-45FA-9731-A840D293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D8C"/>
                </a:solidFill>
              </a:defRPr>
            </a:pPr>
            <a:r>
              <a:rPr sz="1350" b="1">
                <a:solidFill>
                  <a:srgbClr val="2F5D8C"/>
                </a:solidFill>
              </a:rPr>
              <a:t>¿Qué problema exacto resuelve?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C1433-C5CE-4EB5-A71B-36E6055F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0027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1C1C"/>
                </a:solidFill>
              </a:defRPr>
            </a:pPr>
            <a:r>
              <a:rPr sz="1350" b="0">
                <a:solidFill>
                  <a:srgbClr val="1B1C1C"/>
                </a:solidFill>
              </a:rPr>
              <a:t>Reduce fricción y falta de trazabilidad al crear y validar copy comercial.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99377-3C31-40F4-99BF-99336333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990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E837B-BC60-45E1-98DD-3A2F7ED0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194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D8C"/>
                </a:solidFill>
              </a:defRPr>
            </a:pPr>
            <a:r>
              <a:rPr sz="1350" b="1">
                <a:solidFill>
                  <a:srgbClr val="2F5D8C"/>
                </a:solidFill>
              </a:rPr>
              <a:t>¿Cómo sé que es útil?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0EA3A-F5C3-4308-942D-14629820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1942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1C1C"/>
                </a:solidFill>
              </a:defRPr>
            </a:pPr>
            <a:r>
              <a:rPr sz="1350" b="0">
                <a:solidFill>
                  <a:srgbClr val="1B1C1C"/>
                </a:solidFill>
              </a:rPr>
              <a:t>La salida conecta criterio por bloque con una decisión accionable.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58C4F-AD57-44FE-B719-F2D756F0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990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BB9CF-5E83-4406-9511-42FE8B5D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385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D8C"/>
                </a:solidFill>
              </a:defRPr>
            </a:pPr>
            <a:r>
              <a:rPr sz="1350" b="1">
                <a:solidFill>
                  <a:srgbClr val="2F5D8C"/>
                </a:solidFill>
              </a:rPr>
              <a:t>¿Qué pasa si cambia la fuente de datos?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08F87-11D5-4375-80C5-1DF3472F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3857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1C1C"/>
                </a:solidFill>
              </a:defRPr>
            </a:pPr>
            <a:r>
              <a:rPr sz="1350" b="0">
                <a:solidFill>
                  <a:srgbClr val="1B1C1C"/>
                </a:solidFill>
              </a:rPr>
              <a:t>DAO y servicios aíslan persistencia; criterios y prompts se versionan.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74CAE3-2EF5-4973-A556-B6C1BA26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990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0AA512-A4F4-4E78-8872-4105D1FF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77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D8C"/>
                </a:solidFill>
              </a:defRPr>
            </a:pPr>
            <a:r>
              <a:rPr sz="1350" b="1">
                <a:solidFill>
                  <a:srgbClr val="2F5D8C"/>
                </a:solidFill>
              </a:rPr>
              <a:t>¿Cuál es el mayor riesgo?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9C708-7739-4702-9117-B57A3905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5772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1C1C"/>
                </a:solidFill>
              </a:defRPr>
            </a:pPr>
            <a:r>
              <a:rPr sz="1350" b="0">
                <a:solidFill>
                  <a:srgbClr val="1B1C1C"/>
                </a:solidFill>
              </a:rPr>
              <a:t>Confiar en una generación sin revisión humana o con briefing pobre.</a:t>
            </a:r>
          </a:p>
        </p:txBody>
      </p:sp>
    </p:spTree>
    <p:extLst>
      <p:ext uri="{BB962C8B-B14F-4D97-AF65-F5344CB8AC3E}">
        <p14:creationId xmlns:p14="http://schemas.microsoft.com/office/powerpoint/2010/main" val="11435936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2026-06-16T17:26:32.5880000Z</dcterms:created>
  <dcterms:modified xsi:type="dcterms:W3CDTF">2026-06-16T17:26:32.5880000Z</dcterms:modified>
</coreProperties>
</file>